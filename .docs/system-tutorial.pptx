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Gonzales Dental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99CC"/>
                </a:solidFill>
                <a:latin typeface="Calibri"/>
              </a:rPr>
              <a:t>DentCare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User Tutorial  —  Step-by-Step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910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Gonzales Dental Clinic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99"/>
                </a:solidFill>
                <a:latin typeface="Calibri"/>
              </a:rPr>
              <a:t>Part A — For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1.  Creating a New Patient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2.  Logging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3.  Exploring Your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4.  Booking an Appointment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5.  Viewing &amp; Cancelling Appointments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6.  Viewing Your Dental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7.  Checking Your Invoices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99"/>
                </a:solidFill>
                <a:latin typeface="Calibri"/>
              </a:rPr>
              <a:t>Part B — For Clinic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8.   Logging In as 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9.   Reviewing the Admin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10. Confirming an Appointment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11.  Cancelling an Appointment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12. Creating a Walk-in Appointment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13. Recording a Dental Visit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09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  14. Creating an Invoice &amp; Payment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Meet Our Tutorial Characters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828800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F6B"/>
                </a:solidFill>
                <a:latin typeface="Calibri"/>
              </a:rPr>
              <a:t>Maria Santos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Maria heard about Gonzales Dental Clinic from a friend.
She will register, book an appointment, and manage
her records using the Patient Portal.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212080"/>
          </a:xfrm>
          <a:prstGeom prst="rect">
            <a:avLst/>
          </a:prstGeom>
          <a:solidFill>
            <a:srgbClr val="EBF5FB"/>
          </a:solidFill>
          <a:ln w="19050"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1828800" cy="32004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RECEPTIONIST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F6B"/>
                </a:solidFill>
                <a:latin typeface="Calibri"/>
              </a:rPr>
              <a:t>Ana Reyes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  <a:latin typeface="Calibri"/>
              </a:rPr>
              <a:t>Ana works at the clinic front desk.
She will confirm bookings, create walk-in appointments,
and record payments using the Admin Panel.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99CC"/>
                </a:solidFill>
                <a:latin typeface="Calibri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For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99CC"/>
                </a:solidFill>
                <a:latin typeface="Calibri"/>
              </a:rPr>
              <a:t>Registration · Login · Booking · Records · Invoices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Creating a New Patient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New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Maria wants to register so she can book appointments online. This only needs to be done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  —  Creating a New Patient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Open the Registration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Go to: http://localhost/DentCare/public/register  —  You will see "Create your patient account"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Fill in Account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Enter your Full Name, Email Address, Password (min 8 characters), Confirm Password, and Phone Number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Fill in Patient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Enter First Name, Last Name, Date of Birth, Gender, Home Address, and 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"Create Patient Account"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If any field is wrong, a red error list appears at the top — fix the errors and try again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You are logged in automatically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system takes you straight to your Dashboard. Your Patient ID is assigned (e.g. PT-20260608-0001)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Write down your email and password — you will need them every time you log 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  —  Registration Form — What You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Page heading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Create your patient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Full Name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Maria Santos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Email Address 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maria.santos@email.com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Password 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••••••••  (at least 8 characters)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Phone Number 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09171234567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First Name 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Maria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95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Last Name 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89534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Santos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7024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1720" y="4270248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Date of Birth 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432511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March 15, 1990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70001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4700016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548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Gender 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75488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Female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12978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31720" y="5129784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18464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Home Address 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95728" y="518464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123 Sampaguita Street, Brgy. Sta. Cruz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55955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31720" y="5559552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61441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City 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95728" y="561441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Manila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98932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31720" y="5989320"/>
            <a:ext cx="9491472" cy="393192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04418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95728" y="604418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Create Patient Account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7665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ⓘ  After clicking the button, you are automatically logged in and redirected to your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Logging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Registered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Returning patients log in with their email and password each visit.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2  —  Logging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Open the Login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Go to: http://localhost/DentCare/public/login  —  You will see "Sign in to your account"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Enter your email and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Use the email and password you chose when you registered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Tick "Remember me" (optional)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Only tick this on your own private device — keeps you logged in between visits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"Sign In"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 are taken to your Dashboard. If wrong credentials: "These credentials do not match our records."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2  —  Login Page — What You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Area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Patient Portal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Email Address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maria.santos@email.com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Password 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••••••••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☐  Remember 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Sign 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Footer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6699"/>
                </a:solidFill>
                <a:latin typeface="Calibri"/>
              </a:rPr>
              <a:t>Don't have an account?  Register 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95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Staff link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89534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6699"/>
                </a:solidFill>
                <a:latin typeface="Calibri"/>
              </a:rPr>
              <a:t>Staff or dentist? Access Admin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7665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ⓘ  Do NOT tick "Remember me" on a shared or public computer.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Exploring Your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The Dashboard is the first page after login — a quick overview of your dental health.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3  —  Patient Dashboard — What You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Page heading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Welcome back, Maria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Patient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Patient ID:  PT-20260608-0001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Reminder banner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🔔  Dental Cleaning Reminder — Due June 2026.  Book Now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Upcoming Appointments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Next appointment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Dental Cleaning  •  Dr. Gonzales  •  June 16, 2026  •  9:00 AM  •  Confirmed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Quick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95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89534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📅 Book Appointment   •   📋 Medical Records   •   💳 My Invoices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7024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1720" y="4270248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432511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Recent Visits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70001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4700016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548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75488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No records yet — records appear after your first visit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3  —  Dashboard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Every page in the Patient Portal has this navigation bar at the top: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47548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417320"/>
            <a:ext cx="5669280" cy="47548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What It Shows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11096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911096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96596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Returns to this overview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86584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Appointments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386584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441448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Full list of all your appointments and their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62072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16936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Medical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862072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16936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Your complete dental history and X-rays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92424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Invoices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337560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392424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Your billing history and outstanding balances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13048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6791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Book Appointment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813048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86791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Opens the 4-step booking wizard (big button, top right)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88536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4340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My Profile / Sign 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288536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34340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Access from your name in the top-right corner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Booking an Appointment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Maria books a dental cleaning using the 4-step wizard. Each step saves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4  —  Step 1 of 4 — Choose a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"Book Appointment"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Click the button in the top navigation bar, or the shortcut on your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Browse the list of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Services are grouped by type. Each card shows the name, price (₱), and duration (minutes)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on your chosen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Example: click "Dental Cleaning  •  ₱500  •  30 min" — the card highlights blue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The wizard moves to Step 2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Your selection is saved — you can go back at any time without losing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4  —  Step 1 — Choose a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Page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Book an Appointment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Progress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① Service  →  ② Dentist  →  ③ Date &amp; Time  →  ④ Confirm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Step heading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Choose a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Service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Dental Cleaning               ₱500       30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Service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Teeth Whitening              ₱1,500     60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Service 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Dental Filling                 ₱800       45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95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Service card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89534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Tooth Extraction              ₱600       30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7024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1720" y="4270248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432511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✔  Dental Cleaning selected — proceeding to Step 2…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4  —  Step 2 of 4 — Choose a Dentist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Review the dentist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Each card shows: Dentist name, specialisation, and consultation fee per visit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on your preferred dentist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Example: click "Dr. Gonzales  •  General Dentistry  •  ₱300/visit"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Wizard moves to 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Your dentist selection is saved automatically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4  —  Step 3 of 4 — Pick a Date &amp;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a date on the calendar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Note: only tomorrow and future dates can be selected — today is not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Available time slots appear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Time slots show all free times for that dentist. Already-booked slots are greyed out and cannot be selected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a time slot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Example: click "9:00 AM" — it highlights to confirm your selection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Wizard moves to 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Both date and time are saved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95604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If you see "No available slots for this date", try a different date — the dentist is fully booked.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4  —  Step 4 of 4 — Confirm Your Booking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Review the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Check: Service = Dental Cleaning  •  Dentist = Dr. Gonzales  •  Date = June 16, 2026  •  Time = 9:00 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Add a note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In "Chief Complaint / Reason for Visit", type your concern — e.g. "Routine 6-month cleaning"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"Confirm Booking"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button briefly shows "Processing…" — wait for it to finish, do not click again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Booking confirmed!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 see the success screen with your Appointment Number (e.g. APT-20260616-0001)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4  —  Success — Appointment Booked!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Appointment Booked! 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Your appointment APT-20260616-0001 is pending confirmation.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We'll notify you once the clinic confirms your appointment.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What happens 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Your status is PENDING — the receptionist will confirm it shortly.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View Appointments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6699"/>
                </a:solidFill>
                <a:latin typeface="Calibri"/>
              </a:rPr>
              <a:t>Book Another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7665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ⓘ  PENDING means received but not yet confirmed. Check "My Appointments" to see when it changes to CONFIRMED.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Viewing &amp; Cancelling Appointments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Maria can check her appointment status and cancel if her schedule changes.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5  —  Viewing Appointments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"Appointments" in the navigation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page "My Appointments" shows all your bookings in 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Use the Filter dropdown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Select a status like "Pending" to narrow the list — select "All Statuses" to see everything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Read the status badge on each appointment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coloured badge tells you exactly where your appointment stands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5  —  Appointment Status Badges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764280" cy="47548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75760" y="1417320"/>
            <a:ext cx="3764280" cy="47548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Colour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5760" y="1417320"/>
            <a:ext cx="3764280" cy="47548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What It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11096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Pending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5760" y="1911096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7200" y="1965960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60" y="1911096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7200" y="1965960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Booking received — awaiting clinic confirmation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41448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Confirmed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5760" y="2386584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200" y="2441448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Blue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85760" y="2386584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0" y="2441448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Clinic accepted — please arrive on 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62072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16936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In 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5760" y="2862072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7200" y="2916936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Purple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5760" y="2862072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7200" y="2916936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 are currently at the clinic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37560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92424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Completed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5760" y="3337560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200" y="3392424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Green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85760" y="3337560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7200" y="3392424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Visit finished — record and invoice are ready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813048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867912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Cancelled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5760" y="3813048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7200" y="3867912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5760" y="3813048"/>
            <a:ext cx="3764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7200" y="3867912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Appointment was cancelled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88536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343400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No Show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75760" y="4288536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7200" y="4343400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Grey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85760" y="4288536"/>
            <a:ext cx="3764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4343400"/>
            <a:ext cx="362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 did not arrive for this appointment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5  —  Cancelling an Appointment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Find the appointment you want to cancel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Only Pending or Confirmed appointments have a Cancel button — completed ones cannot be undone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the "Cancel" button on that appointment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 pop-up appears showing the appointment details and a warning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Read the warning carefully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"This action cannot be undone. Once cancelled, you will need to book a new appointment."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Optionally type a 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Example: "Schedule conflict" or "Feeling unwell"  —  this field is optional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"Yes, Cancel It"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button shows "Cancelling…" briefly, then the status changes to red "Cancelled"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A green message "Your appointment has been cancelled successfully." confirms the cancellation.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Viewing Your Dental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After each visit, the dentist writes a record. Maria can read it anytime from her portal.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6  —  Viewing Dental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"Medical Records" in the navigation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Page title: "Medical Records — Your complete dental health history"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See the list of past visits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Each card shows the date, dentist name, and an X-Ray badge if images were taken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"View Details" on any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Opens the full record for that visit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Read your dental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Fields shown: Chief Complaint, Diagnosis, Treatment Plan, Treatment Done, Notes, Next Visit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View X-Ray images (if any)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Scroll down to the X-Ray Images section — images are displayed directly on screen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You cannot edit dental records. If you notice an error, contact the clinic.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6  —  Dental Record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Back 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6699"/>
                </a:solidFill>
                <a:latin typeface="Calibri"/>
              </a:rPr>
              <a:t>← Back to Records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June 16, 2026  •  Dr. Gonzales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Chief Complaint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Routine 6-month cleaning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Diagnosis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Mild tartar build-up on lower molars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Treatment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Full dental cleaning and polishing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Treatment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Scaling and polishing completed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95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89534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Advised to floss daily. Follow-up in 6 months.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7024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1720" y="4270248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Next Visit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432511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NEXT VISIT RECOMMENDATION:  December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70001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4700016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548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X-Ray Images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75488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1 X-Ray image  —  Periapical  —  June 16,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Checking Your Invoices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After each visit, the clinic issues an invoice. Maria can view the full breakdown here.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7  —  Viewing Invoices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"Invoices" in the navigation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Page title: "My Invoices — View your billing history and outstanding balances"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See all your invoices listed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Each card shows the invoice number, date, due date, total amount, and payment status badge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an invoice card to expand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See the full breakdown: line items, subtotal, discount, tax, total, amount paid, and balance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Check the status 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Green = Paid, Amber = Partially Paid, Cyan = Unpaid/Sent, Red = Overdue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To pay, visit the clinic counter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receptionist will record your payment and the status updates automatically in your portal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If your invoice shows "Overdue" in red, please call the clinic as soon as possible.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7  —  Invoice Detail — Expanded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Invoice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INV-2026-0001  •  Issued: June 16, 2026  •  Due: June 30,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Unpaid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SERVICE / 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Dental Cleaning            1     ₱500.00     ₱500.00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SUBTOTAL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₱500.00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DISCOUNT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-₱0.00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TAX (0%)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₱0.00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95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89534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₱500.00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7024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1720" y="4270248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AMOUNT PAID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432511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₱0.00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70001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4700016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548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BALANCE DUE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75488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₱500.00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7665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6E6E"/>
                </a:solidFill>
                <a:latin typeface="Calibri"/>
              </a:rPr>
              <a:t>ⓘ  Visit the clinic counter to pay. The receptionist will record your payment and the status will change to Paid.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99CC"/>
                </a:solidFill>
                <a:latin typeface="Calibri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For Clinic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99CC"/>
                </a:solidFill>
                <a:latin typeface="Calibri"/>
              </a:rPr>
              <a:t>Login · Dashboard · Appointments · Records · Billing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Logging In as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Receptionist · Admin · Dentist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Clinic staff log in through the Admin Panel — a separate page from the patient login.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8  —  Staff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Open the Staff Login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Go to: http://localhost/DentCare/public/admin  —  OR click "Staff or dentist? Access Admin Panel" on the patient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Enter your staff email and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Use the credentials provided by the System Administrator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"Sign In"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You are taken to the Admin Dashboard with clinic-wide statistics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968496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Patient accounts cannot access the Admin Panel — the system rejects them automatically.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8  —  Staff Login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Page heading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Gonzales Dental Clinic — Admin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ana.reyes@gonzalesdentalclinic.com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••••••••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Sign 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Reviewing the Admin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All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The Admin Dashboard gives Ana a live snapshot of the clinic the moment she logs in.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9  —  Admin Dashboard — What Ana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Pending Appointments:   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Confirmed Appointments: 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Completed Today:        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Today's Revenue:         ₱2,500.00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Recent Appointments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Row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APT-20260616-0001  •  Maria Santos  •  Dental Cleaning  •  9:00 AM  •  🟡 Pending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95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89534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Cleaning Reminders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7024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1720" y="4270248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Reminder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432511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Jose Dela Cruz — Cleaning overdue since April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70001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4700016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548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75488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Low Stock Medicines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12978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31720" y="5129784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18464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Stock alert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95728" y="518464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Lidocaine HCl — 2 units remaining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9  —  Admin Panel — Left Sidebar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47548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417320"/>
            <a:ext cx="5669280" cy="47548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Menu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11096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Clinic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911096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96596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Dashboard, Services, Dentists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86584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Appointments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386584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441448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Appointments (main booking management)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62072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16936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Medical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862072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916936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Dental Records, Prescriptions, Certificates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37560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92424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Billing &amp; Payments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37560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392424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Invoices, Payments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13048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6791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Inventory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813048"/>
            <a:ext cx="5669280" cy="475488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867912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Medicines, Dispensing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88536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34340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Administration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288536"/>
            <a:ext cx="566928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34340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Patients, Users, Settings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Confirming a Patient Appointment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Receptionist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Maria's booking is PENDING. Ana confirms it so the clinic slot is reserved.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10  —  Confirming an Appointment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Go to Appointments in the sidebar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Click "Appointments" in the left sidebar — the full appointment list appears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Find the Pending appointment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Use the "Filter by Status" dropdown → select "Pending" to show only unconfirmed bookings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"Confirm" on Maria's appointment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At the end of the row, click the Confirm action button — a dialog appears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Read the dialog and click "Confirm"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dialog shows: patient name, service, date, and time — verify it is correct before confirming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Status updates to Confirmed (blue)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Maria's patient portal now shows "Confirmed" on her appointment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Confirming does not send an automatic SMS. Call the patient by phone if they need to be notified.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10  —  Appointments List — Before &amp; After Confirming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Column headers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Appt #  |  Date  |  Time  |  Patient  |  Dentist  |  Service  | 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FFB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Before 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APT-20260616-0001  •  June 16  •  9:00 AM  •  Maria Santos  •  🟡 Pending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Action clicked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Confirm button clicked → dialog appears: "Are you sure?"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After confirm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APT-20260616-0001  •  June 16  •  9:00 AM  •  Maria Santos  •  🔵 Confirmed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Patient sees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Maria's portal: Appointment status is now CONFIRMED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Cancelling an Appointment (Staff)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Receptionist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If a dentist is unavailable, Ana cancels the appointment from the admin panel.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11  —  Cancelling an Appointment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Go to Appointments in the sidebar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Find the appointment using the filter or search 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"Cancel" on the appointment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 confirmation dialog appears asking you to verify the cancellation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Confirm the cancellation in the dialog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Click "Cancel Appointment" in the pop-up — the status changes to red "Cancelled"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Add a reason (recommended)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Open the appointment, type in the Cancellation Reason field, then click Save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Notify the patient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Call or message the patient — the system does not send automatic notifications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solidFill>
            <a:srgbClr val="FFF0F0"/>
          </a:solidFill>
          <a:ln w="9525">
            <a:solidFill>
              <a:srgbClr val="B4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1E1E"/>
                </a:solidFill>
                <a:latin typeface="Calibri"/>
              </a:rPr>
              <a:t>⚠  Always notify the patient after cancelling so they can rebook at a convenient time.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Creating a Walk-in or Phone Appointment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Receptionist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A patient arrives or calls without booking online. Ana creates the appointment directly.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12  —  Creating a Walk-in Appointment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Go to Appointments → click "New Appointment"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top-right button opens the appointment creation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Search for the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Type the patient's name or Patient ID in the Patient field — select them from the dropdown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Fill in the appointment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Choose: Dentist, Service, Appointment Type, Date, and Start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End Time fills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system calculates the end time based on the service duration — you do not need to set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Set Status to "Confirmed" for same-day walk-ins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Since the patient is physically present, confirm it immediately instead of leaving it as Pending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85216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8978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"Save"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2362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appointment appears in the list and is visible to the patient in their portal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12  —  New Appointment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Appointment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Patient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Maria Santos  (PT-20260608-0001)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Dentist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Dr. Gonzales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Dental Cleaning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Consultation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June 18,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89534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Start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389534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11:00 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27024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1720" y="4270248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End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432511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11:30 AM  (auto-calculated from service duration)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70001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0" y="4700016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75488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5728" y="475488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Confirmed  ◀ set directly for walk-ins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12978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31720" y="5129784"/>
            <a:ext cx="9491472" cy="393192"/>
          </a:xfrm>
          <a:prstGeom prst="rect">
            <a:avLst/>
          </a:prstGeom>
          <a:solidFill>
            <a:srgbClr val="FAFFFE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18464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Chief Complaint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95728" y="518464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Patient reports toothache — upper right molar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55955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31720" y="5559552"/>
            <a:ext cx="9491472" cy="393192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61441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95728" y="561441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Save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Recording a Dental Visit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Dentist · Receptionist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Maria arrives for her cleaning. The dentist updates the appointment and writes the dental record.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13  —  During the Visit — Dentist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Mark the appointment "In Progress"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Go to Appointments → find Maria's Confirmed appointment → edit Status → "In Progress" → Save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Open Dental Records → click "New Dental Record"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Go to: Medical Records → Dental Records → New Dental Record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Link the record to the patient and appointment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Select Maria Santos from the Patient field, and APT-20260616-0001 from the Appointment 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Fill in the clinical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Chief Complaint, Diagnosis, Treatment Plan, Treatment Done, Notes, and Next Visit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Upload X-Ray images (if taken)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Click the upload area and select the image files (JPG or PNG)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85216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8978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Save the Dental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2362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Click "Save Dental Record" — Maria can now see this in her Medical Records portal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13  —  After the Visit — Completing the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Create a Prescription if medication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Go to: Medical Records → Prescriptions → New Prescription — add medications with dosage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Mark the appointment "Completed"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Go back to the appointment → change Status from "In Progress" to "Completed" → Save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Confirm the record is visible to the 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Maria's portal will show the dental record under Medical Records immediately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968496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The dental record is permanently linked to the appointment — it cannot be deleted, only edited.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99CC"/>
                </a:solidFill>
                <a:latin typeface="Calibri"/>
              </a:rPr>
              <a:t>Tutorial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Creating an Invoice &amp; Recording Payment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347472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Who: Receptionist ·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E6E6E"/>
                </a:solidFill>
                <a:latin typeface="Calibri"/>
              </a:rPr>
              <a:t>After Maria's visit is completed, Ana creates the invoice and records her payment at the counter.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14  —  Creating an Invoice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Go to Billing &amp; Payments → Invoices → "New Invoice"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invoice creation form opens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Select the patient and link to the appointment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Choose: Maria Santos and APT-20260616-0001 from the dropdowns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Set the issue date and due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Example: Issue Date = June 16, 2026  •  Due Date = June 30,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Add line items for each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Item: Dental Cleaning  •  Qty: 1  •  Unit Price: ₱500.00  →  Total auto-calculates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"Save Invoice"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invoice is created with status "Sent" (unpaid). Maria can see it in her portal.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14  —  Recording a Payment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914400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960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Go to Billing &amp; Payments → Payments → "New Payment"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9844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payment form opens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47672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01952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Select the correct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Choose: INV-2026-0001  —  Maria Santos  —  ₱500.00 due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35224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89504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3522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Enter payment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Amount Paid: ₱500.00  •  Payment Method: Cash  •  Payment Date: June 16,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922776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877056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22776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Click "Save Payment"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invoice balance is recalculated automatically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10328"/>
            <a:ext cx="457200" cy="4572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864608"/>
            <a:ext cx="10881360" cy="914400"/>
          </a:xfrm>
          <a:prstGeom prst="rect">
            <a:avLst/>
          </a:prstGeom>
          <a:solidFill>
            <a:srgbClr val="EBF5FB"/>
          </a:solidFill>
          <a:ln w="635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Invoice status changes to "Paid"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4865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The balance due shows ₱0.00. Maria's portal now shows the invoice as Paid (green).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97880"/>
            <a:ext cx="11612880" cy="502920"/>
          </a:xfrm>
          <a:prstGeom prst="rect">
            <a:avLst/>
          </a:prstGeom>
          <a:solidFill>
            <a:srgbClr val="FFFBEA"/>
          </a:solidFill>
          <a:ln w="9525">
            <a:solidFill>
              <a:srgbClr val="B4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436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7800"/>
                </a:solidFill>
                <a:latin typeface="Calibri"/>
              </a:rPr>
              <a:t>💡  For a partial payment, enter only the amount received. The status will show "Partially Paid" with the remaining balance.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Tutorial 14  —  After Payment Recorded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40312" cy="5806440"/>
          </a:xfrm>
          <a:prstGeom prst="rect">
            <a:avLst/>
          </a:prstGeom>
          <a:solidFill>
            <a:srgbClr val="F4F9FF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292608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41832"/>
            <a:ext cx="11457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  🖥  Screen simulation — Gonzales Dental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1261872"/>
            <a:ext cx="9491472" cy="393192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1673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Invoice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131673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F6B"/>
                </a:solidFill>
                <a:latin typeface="Calibri"/>
              </a:rPr>
              <a:t>INV-2026-0001  —  Maria Santos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691640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465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46504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Paid  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21408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2121408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7627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176272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₱500.00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51176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2551176"/>
            <a:ext cx="9491472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Amount Paid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2606040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E1E"/>
                </a:solidFill>
                <a:latin typeface="Calibri"/>
              </a:rPr>
              <a:t>₱500.00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80944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31720" y="2980944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03580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Balance Due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8" y="3035808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₱0.00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10712"/>
            <a:ext cx="2011680" cy="39319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3410712"/>
            <a:ext cx="9491472" cy="393192"/>
          </a:xfrm>
          <a:prstGeom prst="rect">
            <a:avLst/>
          </a:prstGeom>
          <a:solidFill>
            <a:srgbClr val="ED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4655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Patient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3465576"/>
            <a:ext cx="9354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C"/>
                </a:solidFill>
                <a:latin typeface="Calibri"/>
              </a:rPr>
              <a:t>Maria's invoice now shows "Paid" (green) in her portal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Quick Reference — System URLs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486400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PATIENT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411480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16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16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486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739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/register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5486400" cy="411480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311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2311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/patient/dashboard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51760"/>
            <a:ext cx="5486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883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Book Appt.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6883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/patient/book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5486400" cy="411480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455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My Appointments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1455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/patient/appointments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5486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02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Medical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02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/patient/records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5486400" cy="411480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599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My Invoices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0599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/patient/invoices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914400"/>
            <a:ext cx="5486400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ADMIN PANEL (STAFF)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280160"/>
            <a:ext cx="5486400" cy="411480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316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Staff 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1316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/admin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737360"/>
            <a:ext cx="5486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7739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Appointments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17739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/admin/appointments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194560"/>
            <a:ext cx="5486400" cy="411480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2311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Patients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22311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/admin/patients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651760"/>
            <a:ext cx="5486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6883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Dental Records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26883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/admin/dental-records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108960"/>
            <a:ext cx="5486400" cy="411480"/>
          </a:xfrm>
          <a:prstGeom prst="rect">
            <a:avLst/>
          </a:prstGeom>
          <a:solidFill>
            <a:srgbClr val="EBF5FB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1455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Invoices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31455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/admin/invoices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566160"/>
            <a:ext cx="5486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602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3F6B"/>
                </a:solidFill>
                <a:latin typeface="Calibri"/>
              </a:rPr>
              <a:t>Payments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36027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/admin/payments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99CC"/>
                </a:solidFill>
                <a:latin typeface="Calibri"/>
              </a:rPr>
              <a:t>For questions or support, contact the System Administrator.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910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Gonzales Dental Clinic  •  DentCare System  •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